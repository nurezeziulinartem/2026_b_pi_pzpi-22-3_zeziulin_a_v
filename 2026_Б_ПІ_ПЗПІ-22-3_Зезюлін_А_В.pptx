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215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Тема, ПІБ, група, керівник.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проблеми: ріст трафіку, конфіденційність, відсутність єдиного рішення.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MediaPress — єдине рiшення де всi 5 критерiїв виконано.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Canvas API + OffscreenCanvas у Web Worker. Пресети: Instagram, Twitter, WhatsApp, Telegram тощо.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FFmpeg.wasm локально. H.264 (libx264) i VP9 (libvpx-vp9).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вихiдних форматiв. Нормалiзацiя EBU R128 (-23 LUFS).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робота бакалавра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51206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Браузерний плагін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стиснення і конвертації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відео, зображень та аудіо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завантаження файлів на сервер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MediaPress</a:t>
            </a: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926080"/>
            <a:ext cx="51206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Здобувач: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Зезюлін Артем Віталійович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ПЗПІ-22-3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ст.викл. Гребенюк В.О.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1605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Програмної інженерії, ХНУРЕ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709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Харків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Актуальність теми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2816352" cy="2633472"/>
          </a:xfrm>
          <a:prstGeom prst="roundRect">
            <a:avLst>
              <a:gd name="adj" fmla="val 3472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2816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мережевого трафіку — медіаконтент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67712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Попит на зручні інструменти стиснення постійно зростає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896112"/>
            <a:ext cx="2816352" cy="2633472"/>
          </a:xfrm>
          <a:prstGeom prst="roundRect">
            <a:avLst>
              <a:gd name="adj" fmla="val 3472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3337560" y="960120"/>
            <a:ext cx="2816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474720" y="175564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Ризики конфіденційності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267712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Серверні сервіси отримують доступ до особистих файлів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896112"/>
            <a:ext cx="2816352" cy="2633472"/>
          </a:xfrm>
          <a:prstGeom prst="roundRect">
            <a:avLst>
              <a:gd name="adj" fmla="val 3472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6263640" y="960120"/>
            <a:ext cx="28163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400800" y="175564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Єдиного рішення немає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267712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Жоден аналог не охоплює фото + відео + аудіо разом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611880"/>
            <a:ext cx="8321040" cy="1207008"/>
          </a:xfrm>
          <a:prstGeom prst="roundRect">
            <a:avLst>
              <a:gd name="adj" fmla="val 7576"/>
            </a:avLst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Рiшення: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73075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Браузерне розширення MediaPress — обробка медiафайлiв локально, без передачi на сервер.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Пiдтримка трьох типiв медiа: зображення, вiдео, аудiо.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FFmpeg.wasm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нуль мережевих запитiв.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Аналiз iснуючих рiшень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390448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7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Рiшення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Фото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Вiдео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Аудiо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сервера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Розширення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Image As 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Squoosh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CloudConvert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HandBrake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Audio Converter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MediaPress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Мета та завдання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Мета: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браузерне розширення для стиснення i конвертацiї медiа без завантаження файлiв на сервер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73352"/>
            <a:ext cx="409651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521208" y="182880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521208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764792"/>
            <a:ext cx="3438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Аналiз предметної галузi та аналогiв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487168"/>
            <a:ext cx="409651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Shape 9"/>
          <p:cNvSpPr/>
          <p:nvPr/>
        </p:nvSpPr>
        <p:spPr>
          <a:xfrm>
            <a:off x="521208" y="264261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521208" y="2642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78608"/>
            <a:ext cx="3438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Формування вимог (15 FR, 8 NFR)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300984"/>
            <a:ext cx="409651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521208" y="345643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521208" y="34564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392424"/>
            <a:ext cx="3438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UML-проєктування архiтектури системи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4114800"/>
            <a:ext cx="409651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9" name="Shape 17"/>
          <p:cNvSpPr/>
          <p:nvPr/>
        </p:nvSpPr>
        <p:spPr>
          <a:xfrm>
            <a:off x="521208" y="427024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521208" y="4270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206240"/>
            <a:ext cx="3438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стиснення зображень (Canvas API)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45152" y="1673352"/>
            <a:ext cx="409651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3" name="Shape 21"/>
          <p:cNvSpPr/>
          <p:nvPr/>
        </p:nvSpPr>
        <p:spPr>
          <a:xfrm>
            <a:off x="4754880" y="182880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4" name="Text 22"/>
          <p:cNvSpPr/>
          <p:nvPr/>
        </p:nvSpPr>
        <p:spPr>
          <a:xfrm>
            <a:off x="4754880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93792" y="1764792"/>
            <a:ext cx="3438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Конвертери вiдео та аудiо (FFmpeg.wasm)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45152" y="2487168"/>
            <a:ext cx="409651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7" name="Shape 25"/>
          <p:cNvSpPr/>
          <p:nvPr/>
        </p:nvSpPr>
        <p:spPr>
          <a:xfrm>
            <a:off x="4754880" y="264261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6"/>
          <p:cNvSpPr/>
          <p:nvPr/>
        </p:nvSpPr>
        <p:spPr>
          <a:xfrm>
            <a:off x="4754880" y="2642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93792" y="2578608"/>
            <a:ext cx="3438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пресетiв для платформ (16 профiлiв)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45152" y="3300984"/>
            <a:ext cx="409651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1" name="Shape 29"/>
          <p:cNvSpPr/>
          <p:nvPr/>
        </p:nvSpPr>
        <p:spPr>
          <a:xfrm>
            <a:off x="4754880" y="345643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2" name="Text 30"/>
          <p:cNvSpPr/>
          <p:nvPr/>
        </p:nvSpPr>
        <p:spPr>
          <a:xfrm>
            <a:off x="4754880" y="34564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93792" y="3392424"/>
            <a:ext cx="3438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Функцiональне та нефункцiональне тестування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45152" y="4114800"/>
            <a:ext cx="4096512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5" name="Shape 33"/>
          <p:cNvSpPr/>
          <p:nvPr/>
        </p:nvSpPr>
        <p:spPr>
          <a:xfrm>
            <a:off x="4754880" y="427024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6" name="Text 34"/>
          <p:cNvSpPr/>
          <p:nvPr/>
        </p:nvSpPr>
        <p:spPr>
          <a:xfrm>
            <a:off x="4754880" y="42702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93792" y="4206240"/>
            <a:ext cx="34381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Пiдготовка матерiалiв до впровадження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Архiтектура розширення MediaPress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474720" y="1965960"/>
            <a:ext cx="2286000" cy="804672"/>
          </a:xfrm>
          <a:prstGeom prst="roundRect">
            <a:avLst>
              <a:gd name="adj" fmla="val 1136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3474720" y="1965960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(Головна сторiнка)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2286000" cy="749808"/>
          </a:xfrm>
          <a:prstGeom prst="roundRect">
            <a:avLst>
              <a:gd name="adj" fmla="val 1219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384048" y="96012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(фон)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2011680"/>
            <a:ext cx="2286000" cy="749808"/>
          </a:xfrm>
          <a:prstGeom prst="roundRect">
            <a:avLst>
              <a:gd name="adj" fmla="val 1219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384048" y="201168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 (MV3)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3063240"/>
            <a:ext cx="2286000" cy="749808"/>
          </a:xfrm>
          <a:prstGeom prst="roundRect">
            <a:avLst>
              <a:gd name="adj" fmla="val 1219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384048" y="306324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Page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932688"/>
            <a:ext cx="2286000" cy="749808"/>
          </a:xfrm>
          <a:prstGeom prst="roundRect">
            <a:avLst>
              <a:gd name="adj" fmla="val 12195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474720" y="93268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Worker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(Canvas API)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3063240"/>
            <a:ext cx="2286000" cy="749808"/>
          </a:xfrm>
          <a:prstGeom prst="roundRect">
            <a:avLst>
              <a:gd name="adj" fmla="val 12195"/>
            </a:avLst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 dirty="0"/>
          </a:p>
        </p:txBody>
      </p:sp>
      <p:sp>
        <p:nvSpPr>
          <p:cNvPr id="15" name="Text 13"/>
          <p:cNvSpPr/>
          <p:nvPr/>
        </p:nvSpPr>
        <p:spPr>
          <a:xfrm>
            <a:off x="3474720" y="306324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FFmpeg.wasm (~23 MB)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960120"/>
            <a:ext cx="2286000" cy="749808"/>
          </a:xfrm>
          <a:prstGeom prst="roundRect">
            <a:avLst>
              <a:gd name="adj" fmla="val 12195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/>
          <p:nvPr/>
        </p:nvSpPr>
        <p:spPr>
          <a:xfrm>
            <a:off x="6583680" y="96012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Worker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(FFmpeg)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011680"/>
            <a:ext cx="2286000" cy="749808"/>
          </a:xfrm>
          <a:prstGeom prst="roundRect">
            <a:avLst>
              <a:gd name="adj" fmla="val 12195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9" name="Text 17"/>
          <p:cNvSpPr/>
          <p:nvPr/>
        </p:nvSpPr>
        <p:spPr>
          <a:xfrm>
            <a:off x="6583680" y="201168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Worker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(FFmpeg)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3063240"/>
            <a:ext cx="2286000" cy="749808"/>
          </a:xfrm>
          <a:prstGeom prst="roundRect">
            <a:avLst>
              <a:gd name="adj" fmla="val 1219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6583680" y="306324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Script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97480" y="2368296"/>
            <a:ext cx="7772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23" name="Shape 21"/>
          <p:cNvSpPr/>
          <p:nvPr/>
        </p:nvSpPr>
        <p:spPr>
          <a:xfrm>
            <a:off x="5760720" y="2368296"/>
            <a:ext cx="82296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4295079B-08E1-6BBB-5503-E9A4A30CEAE4}"/>
              </a:ext>
            </a:extLst>
          </p:cNvPr>
          <p:cNvSpPr/>
          <p:nvPr/>
        </p:nvSpPr>
        <p:spPr>
          <a:xfrm>
            <a:off x="411480" y="4279392"/>
            <a:ext cx="8321040" cy="384048"/>
          </a:xfrm>
          <a:prstGeom prst="roundRect">
            <a:avLst>
              <a:gd name="adj" fmla="val 23810"/>
            </a:avLst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ED81FBA3-30C2-B52B-8098-F796978CCF6F}"/>
              </a:ext>
            </a:extLst>
          </p:cNvPr>
          <p:cNvSpPr/>
          <p:nvPr/>
        </p:nvSpPr>
        <p:spPr>
          <a:xfrm>
            <a:off x="548640" y="43251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Зв``язок мiж Main UI i Workers — через postMessage() API (асинхронний, без блокування iнтерфейсу)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Технологiчний стек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409651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576072" y="1024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 V3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6072" y="14264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Специфiкацiя Chrome/Edge.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Ефемерний Service Worker, посилена CSP.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45152" y="932688"/>
            <a:ext cx="409651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4809744" y="1024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API + OffscreenCanvas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09744" y="14264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Стиснення фото у Worker без блокування UI.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Formati: WebP, AVIF, JPEG, PNG.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322576"/>
            <a:ext cx="409651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576072" y="24140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FFmpeg.wasm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76072" y="28163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WebAssembly-порт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бандлений локально.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Пiдтримка H.264, VP9, MP3, OGG, Opus.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45152" y="2322576"/>
            <a:ext cx="409651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4809744" y="24140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Workers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09744" y="28163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Паралельна обробка до 2 файлiв.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результату через Transferable Objects.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712464"/>
            <a:ext cx="409651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/>
          <p:nvPr/>
        </p:nvSpPr>
        <p:spPr>
          <a:xfrm>
            <a:off x="576072" y="38039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IndexedDB / chrome.storage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76072" y="42062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Iсторiя та налаштування — тiльки локально.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Будь-який сервер виключений.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45152" y="3712464"/>
            <a:ext cx="409651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4809744" y="38039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JS (ES2022)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09744" y="42062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фреймворкiв.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Мiнiмальний розмiр, нуль залежностей.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Реалiзацiя — Стиснення зображень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3803904" cy="4224528"/>
          </a:xfrm>
          <a:prstGeom prst="roundRect">
            <a:avLst>
              <a:gd name="adj" fmla="val 288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4"/>
          <p:cNvSpPr/>
          <p:nvPr/>
        </p:nvSpPr>
        <p:spPr>
          <a:xfrm>
            <a:off x="4325112" y="896112"/>
            <a:ext cx="4407408" cy="834717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" name="Text 5"/>
          <p:cNvSpPr/>
          <p:nvPr/>
        </p:nvSpPr>
        <p:spPr>
          <a:xfrm>
            <a:off x="4489704" y="987552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Вхiднi формати: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89704" y="1266443"/>
            <a:ext cx="4151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JPEG, PNG, WebP, AVIF, BMP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5112" y="1856232"/>
            <a:ext cx="4407408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Text 8"/>
          <p:cNvSpPr/>
          <p:nvPr/>
        </p:nvSpPr>
        <p:spPr>
          <a:xfrm>
            <a:off x="4453128" y="1979676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Вихiднi формати: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89704" y="2269671"/>
            <a:ext cx="4151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 (рекомендовано)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AVIF, JPEG, PNG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25112" y="2982903"/>
            <a:ext cx="4407408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Text 11"/>
          <p:cNvSpPr/>
          <p:nvPr/>
        </p:nvSpPr>
        <p:spPr>
          <a:xfrm>
            <a:off x="4453128" y="3076955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Налаштування: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89704" y="3364993"/>
            <a:ext cx="4151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Рiвень якостi 10–100%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Максимальна ширина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пресетiв для платформ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25112" y="4114147"/>
            <a:ext cx="4407408" cy="864761"/>
          </a:xfrm>
          <a:prstGeom prst="roundRect">
            <a:avLst>
              <a:gd name="adj" fmla="val 9259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Text 14"/>
          <p:cNvSpPr/>
          <p:nvPr/>
        </p:nvSpPr>
        <p:spPr>
          <a:xfrm>
            <a:off x="4489704" y="4233346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89704" y="4468150"/>
            <a:ext cx="41513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6,83 МБ → WebP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Економiя -85,7% за 1,9 с</a:t>
            </a:r>
            <a:endParaRPr lang="en-US" sz="13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05485D5-4F03-D5FA-50FA-AFBDA5573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24" y="987551"/>
            <a:ext cx="3601764" cy="40635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Реалiзацiя — Прогрес i Компаратор якостi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69854" y="859537"/>
            <a:ext cx="4160520" cy="3375913"/>
          </a:xfrm>
          <a:prstGeom prst="roundRect">
            <a:avLst>
              <a:gd name="adj" fmla="val 476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3"/>
          <p:cNvSpPr/>
          <p:nvPr/>
        </p:nvSpPr>
        <p:spPr>
          <a:xfrm>
            <a:off x="1220754" y="4476877"/>
            <a:ext cx="245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Паралельна обробка: один файл конвертується, другий вже готовий (-1,9%), третiй очiкує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797550" y="4514977"/>
            <a:ext cx="19951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Компаратор: слайдер зсунутий лiворуч — видно що стиснуте зображення майже не вiдрiзняється вiд оригiналу</a:t>
            </a:r>
            <a:endParaRPr lang="en-US" sz="105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022F86C-13A4-0A32-BD6D-E9A226798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09432"/>
            <a:ext cx="4077269" cy="3124636"/>
          </a:xfrm>
          <a:prstGeom prst="rect">
            <a:avLst/>
          </a:prstGeom>
        </p:spPr>
      </p:pic>
      <p:sp>
        <p:nvSpPr>
          <p:cNvPr id="12" name="Shape 2">
            <a:extLst>
              <a:ext uri="{FF2B5EF4-FFF2-40B4-BE49-F238E27FC236}">
                <a16:creationId xmlns:a16="http://schemas.microsoft.com/office/drawing/2014/main" id="{74772B51-9A2A-5E10-A2D0-1D92841ED310}"/>
              </a:ext>
            </a:extLst>
          </p:cNvPr>
          <p:cNvSpPr/>
          <p:nvPr/>
        </p:nvSpPr>
        <p:spPr>
          <a:xfrm>
            <a:off x="4765324" y="859536"/>
            <a:ext cx="4160520" cy="3375913"/>
          </a:xfrm>
          <a:prstGeom prst="roundRect">
            <a:avLst>
              <a:gd name="adj" fmla="val 476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2F9593C-0491-CFEE-153C-9C5CE3090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509" y="978119"/>
            <a:ext cx="3986463" cy="31559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Реалiзацiя — Конвертацiя вiдео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4892040" cy="4224528"/>
          </a:xfrm>
          <a:prstGeom prst="roundRect">
            <a:avLst>
              <a:gd name="adj" fmla="val 259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4"/>
          <p:cNvSpPr/>
          <p:nvPr/>
        </p:nvSpPr>
        <p:spPr>
          <a:xfrm>
            <a:off x="5413248" y="896112"/>
            <a:ext cx="3319272" cy="78663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" name="Text 5"/>
          <p:cNvSpPr/>
          <p:nvPr/>
        </p:nvSpPr>
        <p:spPr>
          <a:xfrm>
            <a:off x="5577840" y="9875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Вхiднi формати: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1298448"/>
            <a:ext cx="3063240" cy="310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MP4, WebM, AVI, MOV, MKV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13248" y="1810134"/>
            <a:ext cx="3319272" cy="78663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Text 8"/>
          <p:cNvSpPr/>
          <p:nvPr/>
        </p:nvSpPr>
        <p:spPr>
          <a:xfrm>
            <a:off x="5577840" y="1956816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Вихiднi формати: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77840" y="2205478"/>
            <a:ext cx="3063240" cy="3658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(H.264), WebM (VP9)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13248" y="2743452"/>
            <a:ext cx="3319272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Text 11"/>
          <p:cNvSpPr/>
          <p:nvPr/>
        </p:nvSpPr>
        <p:spPr>
          <a:xfrm>
            <a:off x="5577840" y="28892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Налаштування: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77840" y="3181608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Вiдео- та аудiо-бiтрейт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Роздiльнiсть до 1080p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13248" y="3876804"/>
            <a:ext cx="3319272" cy="987552"/>
          </a:xfrm>
          <a:prstGeom prst="roundRect">
            <a:avLst>
              <a:gd name="adj" fmla="val 9259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Text 14"/>
          <p:cNvSpPr/>
          <p:nvPr/>
        </p:nvSpPr>
        <p:spPr>
          <a:xfrm>
            <a:off x="5577840" y="4009644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577840" y="4302252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MP4 720p (4,83 МБ)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Економiя -71,6% за 7,5 с</a:t>
            </a:r>
            <a:endParaRPr lang="en-US" sz="13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42B468D-D6C0-9C0D-1FA6-52144FE67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38" y="950970"/>
            <a:ext cx="4591124" cy="41148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Реалiзацiя — Конвертацiя аудiо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3785616" cy="4224528"/>
          </a:xfrm>
          <a:prstGeom prst="roundRect">
            <a:avLst>
              <a:gd name="adj" fmla="val 289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4"/>
          <p:cNvSpPr/>
          <p:nvPr/>
        </p:nvSpPr>
        <p:spPr>
          <a:xfrm>
            <a:off x="4306824" y="896112"/>
            <a:ext cx="4425696" cy="742188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" name="Text 5"/>
          <p:cNvSpPr/>
          <p:nvPr/>
        </p:nvSpPr>
        <p:spPr>
          <a:xfrm>
            <a:off x="4471416" y="987552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Вхiднi формати: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71416" y="1298448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MP3, OGG, WAV, FLAC, AAC, M4A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06824" y="1766316"/>
            <a:ext cx="4425696" cy="757428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Text 8"/>
          <p:cNvSpPr/>
          <p:nvPr/>
        </p:nvSpPr>
        <p:spPr>
          <a:xfrm>
            <a:off x="4471416" y="1852422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Вихiднi формати: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71416" y="2146046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MP3, OGG, WAV, AAC, Opus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06824" y="2651760"/>
            <a:ext cx="4425696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Text 11"/>
          <p:cNvSpPr/>
          <p:nvPr/>
        </p:nvSpPr>
        <p:spPr>
          <a:xfrm>
            <a:off x="4471416" y="2724150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Налаштування: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71416" y="3027680"/>
            <a:ext cx="41696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Бiтрейт 32–320 кбiт/с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Rate: 22 / 44 / 48 кГц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Нормалiзацiя EBU R128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13631" y="3767328"/>
            <a:ext cx="4425696" cy="874522"/>
          </a:xfrm>
          <a:prstGeom prst="roundRect">
            <a:avLst>
              <a:gd name="adj" fmla="val 9259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Text 14"/>
          <p:cNvSpPr/>
          <p:nvPr/>
        </p:nvSpPr>
        <p:spPr>
          <a:xfrm>
            <a:off x="4471416" y="3863340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71416" y="4055618"/>
            <a:ext cx="41696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5 хв (4,58 МБ) → OGG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Економiя -27,3% за 42 с</a:t>
            </a:r>
            <a:endParaRPr lang="en-US" sz="13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B9075B6-082C-6F81-6B79-1E788DBBE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15" y="978814"/>
            <a:ext cx="3552545" cy="40591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Iнтеграцiя з браузером та конфiденцiйнiсть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4160520" cy="3497580"/>
          </a:xfrm>
          <a:prstGeom prst="roundRect">
            <a:avLst>
              <a:gd name="adj" fmla="val 365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969264"/>
            <a:ext cx="3998066" cy="33423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5830" y="4424983"/>
            <a:ext cx="33096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Правий клiк на будь-яке зображення сайту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одразу вiдкриває MediaPress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45152" y="896111"/>
            <a:ext cx="4133088" cy="3497571"/>
          </a:xfrm>
          <a:prstGeom prst="roundRect">
            <a:avLst>
              <a:gd name="adj" fmla="val 566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775" y="969264"/>
            <a:ext cx="3970313" cy="33423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3FD5165-ABB7-3E86-1837-923515ACCE4E}"/>
              </a:ext>
            </a:extLst>
          </p:cNvPr>
          <p:cNvSpPr txBox="1"/>
          <p:nvPr/>
        </p:nvSpPr>
        <p:spPr>
          <a:xfrm>
            <a:off x="5607050" y="4393869"/>
            <a:ext cx="235966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Network </a:t>
            </a:r>
            <a:r>
              <a:rPr lang="uk-UA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 час обробки відео</a:t>
            </a: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uk-UA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запитів з </a:t>
            </a:r>
            <a:r>
              <a:rPr lang="uk-UA" sz="115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медіаданими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Результати тестування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20040" y="1280159"/>
            <a:ext cx="278892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320040" y="1280159"/>
            <a:ext cx="2788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-85,7%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2121407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-&gt; WebP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6,83 МБ за 1,9 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59"/>
            <a:ext cx="278892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3246120" y="1280159"/>
            <a:ext cx="2788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-71,6%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337560" y="2121407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MP4 720p -&gt; MP4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4,83 МБ за 48 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280159"/>
            <a:ext cx="278892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6172200" y="1280159"/>
            <a:ext cx="2788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-27,3%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63640" y="2121407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MP3 -&gt; OGG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4,58 МБ за 42 с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37760" y="3200396"/>
            <a:ext cx="2651760" cy="1150109"/>
          </a:xfrm>
          <a:prstGeom prst="roundRect">
            <a:avLst>
              <a:gd name="adj" fmla="val 4762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6" name="Text 13"/>
          <p:cNvSpPr/>
          <p:nvPr/>
        </p:nvSpPr>
        <p:spPr>
          <a:xfrm>
            <a:off x="5005070" y="3263389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NFR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виконано</a:t>
            </a:r>
            <a:endParaRPr lang="en-US" sz="32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3574971C-A82A-1D1A-160C-D6B9CE70DF80}"/>
              </a:ext>
            </a:extLst>
          </p:cNvPr>
          <p:cNvSpPr/>
          <p:nvPr/>
        </p:nvSpPr>
        <p:spPr>
          <a:xfrm>
            <a:off x="1309370" y="3200397"/>
            <a:ext cx="2651760" cy="1150111"/>
          </a:xfrm>
          <a:prstGeom prst="roundRect">
            <a:avLst>
              <a:gd name="adj" fmla="val 4762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FR</a:t>
            </a:r>
            <a:endParaRPr lang="en-US" sz="3200" dirty="0"/>
          </a:p>
          <a:p>
            <a:pPr algn="ctr"/>
            <a:r>
              <a:rPr lang="en-US" sz="3200" b="1" dirty="0" err="1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виконано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3357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Висновки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9858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457200" y="198577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457200" y="19857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1839468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Проаналiзовано 8 аналогiв — жоден не поєднує фото+вiдео+аудiо з клiєнтською обробкою в розширеннi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7421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2333244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Сформовано 15 FR та 8 NFR; виконано use-case, компонентну та iншi UML-дiаграми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7332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457200" y="296799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2822194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Реалiзовано 9-компонентну архiтектуру: Web Workers, FFmpeg.wasm, OffscreenCanvas, патерн Strategy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6710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/>
          <p:nvPr/>
        </p:nvSpPr>
        <p:spPr>
          <a:xfrm>
            <a:off x="457200" y="34671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3320796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Тестування: стиснення 62-97%, вiдео 720p — 48 с, NFR-01 доведено через DevTools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5554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457200" y="39608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814572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Розширення готове до публiкацiї у Chrome Web Store та корпоративного розгортання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Дякую за увагу!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828800" y="2788920"/>
            <a:ext cx="54864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Зезюлiн Артем · ПЗПI-22-3 · ХНУРЕ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875</Words>
  <Application>Microsoft Office PowerPoint</Application>
  <PresentationFormat>Екран (16:9)</PresentationFormat>
  <Paragraphs>209</Paragraphs>
  <Slides>14</Slides>
  <Notes>14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Artem Zeziulin</cp:lastModifiedBy>
  <cp:revision>2</cp:revision>
  <dcterms:created xsi:type="dcterms:W3CDTF">2026-07-06T06:32:22Z</dcterms:created>
  <dcterms:modified xsi:type="dcterms:W3CDTF">2026-07-06T07:31:25Z</dcterms:modified>
</cp:coreProperties>
</file>